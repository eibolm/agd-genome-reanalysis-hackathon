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15 sec. Name, challenge, team. Do not explain the tool yet - slide 2 is the problem.</a:t>
            </a:r>
          </a:p>
          <a:p/>
          <a:p>
            <a:r>
              <a:t>Say: "We are hpo-scribe. We took challenge 6, the HPO annotation tool."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 sec. The bold line is the whole slide - say it, then pick at most two bullets.</a:t>
            </a:r>
          </a:p>
          <a:p/>
          <a:p>
            <a:r>
              <a:t>If the room does not recognise this, nothing after it lands. The last bullet is the</a:t>
            </a:r>
          </a:p>
          <a:p>
            <a:r>
              <a:t>one that sets up our design decision, so do not skip it: a valid-looking HPO term is</a:t>
            </a:r>
          </a:p>
          <a:p>
            <a:r>
              <a:t>not necessarily a useful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 min. Walk the four boxes left to right, then land on the green panel - that is the</a:t>
            </a:r>
          </a:p>
          <a:p>
            <a:r>
              <a:t>interesting engineering decision and the thing a judge will probe.</a:t>
            </a:r>
          </a:p>
          <a:p/>
          <a:p>
            <a:r>
              <a:t>Expect: "how do you know it doesn't hallucinate a term?" The answer is that it cannot</a:t>
            </a:r>
          </a:p>
          <a:p>
            <a:r>
              <a:t>name one. Retrieval produces the IDs; the schema enum restricts the choice to those</a:t>
            </a:r>
          </a:p>
          <a:p>
            <a:r>
              <a:t>IDs; validation re-checks. Three layers, and the last two are redundant on purpose.</a:t>
            </a:r>
          </a:p>
          <a:p/>
          <a:p>
            <a:r>
              <a:t>Translation happens BEFORE retrieval - the index is English, so searching it for</a:t>
            </a:r>
          </a:p>
          <a:p>
            <a:r>
              <a:t>"Krampfanfaelle" returns nothing. Getting that order wrong builds a tool that silently</a:t>
            </a:r>
          </a:p>
          <a:p>
            <a:r>
              <a:t>fails on every non-English input.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 min. THE slide. Demo live if the server is up: paste the German sample, Ctrl+Enter,</a:t>
            </a:r>
          </a:p>
          <a:p>
            <a:r>
              <a:t>about 12 seconds. Have a screenshot on this slide as backup - something always breaks.</a:t>
            </a:r>
          </a:p>
          <a:p/>
          <a:p>
            <a:r>
              <a:t>&gt;&gt;&gt; REPLACE the left half with a real screenshot of the GUI before presenting. &lt;&lt;&lt;</a:t>
            </a:r>
          </a:p>
          <a:p/>
          <a:p>
            <a:r>
              <a:t>Order: show it working, then the table, then the orange panel. The HP:0000001 example</a:t>
            </a:r>
          </a:p>
          <a:p>
            <a:r>
              <a:t>is the strongest 20 seconds in the deck - a real HPO term, correctly refused, because</a:t>
            </a:r>
          </a:p>
          <a:p>
            <a:r>
              <a:t>the constraint is the annotation file rather than ID validity.</a:t>
            </a:r>
          </a:p>
          <a:p/>
          <a:p>
            <a:r>
              <a:t>Do not skip the last line. Claiming "faster and more consistent" without the timed</a:t>
            </a:r>
          </a:p>
          <a:p>
            <a:r>
              <a:t>comparison is exactly the unsupported claim the rubric punishes. We have not measured</a:t>
            </a:r>
          </a:p>
          <a:p>
            <a:r>
              <a:t>it, so we say 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 sec. This slide is a bonus, not a pillar - if you are running long, cut it and</a:t>
            </a:r>
          </a:p>
          <a:p>
            <a:r>
              <a:t>mention the second UI in one sentence on slide 4 instead.</a:t>
            </a:r>
          </a:p>
          <a:p/>
          <a:p>
            <a:r>
              <a:t>The point worth making is architectural, not cosmetic: the constraint that output can</a:t>
            </a:r>
          </a:p>
          <a:p>
            <a:r>
              <a:t>only be a phenotype.hpoa term lives in the library, so BOTH interfaces inherit it. A</a:t>
            </a:r>
          </a:p>
          <a:p>
            <a:r>
              <a:t>UI cannot weaken it, and neither can a human using one - the correction dropdown only</a:t>
            </a:r>
          </a:p>
          <a:p>
            <a:r>
              <a:t>offers retrieved candidates, and the save path re-validates.</a:t>
            </a:r>
          </a:p>
          <a:p/>
          <a:p>
            <a:r>
              <a:t>&gt;&gt;&gt; Replace the third bullet with the real reason the Streamlit version exists. &lt;&lt;&lt;</a:t>
            </a:r>
          </a:p>
          <a:p>
            <a:r>
              <a:t>&gt;&gt;&gt; Drop the screenshot into deck-assets/streamlit-main.png and re-run make_deck.py. &lt;&lt;&lt;</a:t>
            </a:r>
          </a:p>
          <a:p/>
          <a:p>
            <a:r>
              <a:t>Adding this slide pushes the deck to six. Slide 4 should come down to about 1:40 to</a:t>
            </a:r>
          </a:p>
          <a:p>
            <a:r>
              <a:t>keep the whole thing inside five minutes including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45 sec. Do not rush the middle column - "what did Claude get wrong" is scored directly,</a:t>
            </a:r>
          </a:p>
          <a:p>
            <a:r>
              <a:t>and "nothing" reads as not having looked.</a:t>
            </a:r>
          </a:p>
          <a:p/>
          <a:p>
            <a:r>
              <a:t>The CRLF one is the better story: a bug that produced no error at all, found only</a:t>
            </a:r>
          </a:p>
          <a:p>
            <a:r>
              <a:t>because two independent implementations disagreed. The lesson we would keep is that</a:t>
            </a:r>
          </a:p>
          <a:p>
            <a:r>
              <a:t>a second implementation is a cheap oracle.</a:t>
            </a:r>
          </a:p>
          <a:p/>
          <a:p>
            <a:r>
              <a:t>End on item 1 of "with another day" - it names the thing we did not finish, which is</a:t>
            </a:r>
          </a:p>
          <a:p>
            <a:r>
              <a:t>more convincing than a feature 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148840"/>
            <a:ext cx="1087495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5800" b="1" i="0">
                <a:solidFill>
                  <a:srgbClr val="1A1D21"/>
                </a:solidFill>
                <a:latin typeface="Segoe UI"/>
              </a:rPr>
              <a:t>hpo-scribe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0" i="0">
                <a:solidFill>
                  <a:srgbClr val="1B5E9F"/>
                </a:solidFill>
                <a:latin typeface="Segoe UI"/>
              </a:rPr>
              <a:t>Clinical text in any language → HPO terms that actually exist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3703320"/>
            <a:ext cx="1087495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626B75"/>
                </a:solidFill>
                <a:latin typeface="Segoe UI"/>
              </a:rPr>
              <a:t>Challenge 6 — HPO annotation tool</a:t>
            </a:r>
          </a:p>
          <a:p>
            <a:pPr algn="l">
              <a:spcBef>
                <a:spcPts val="1000"/>
              </a:spcBef>
              <a:spcAft>
                <a:spcPts val="600"/>
              </a:spcAft>
            </a:pPr>
            <a:r>
              <a:rPr sz="1700" b="0" i="0">
                <a:solidFill>
                  <a:srgbClr val="1A1D21"/>
                </a:solidFill>
                <a:latin typeface="Segoe UI"/>
              </a:rPr>
              <a:t>Eike Bolmer  ·  [add remaining team members]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5212080"/>
            <a:ext cx="1463040" cy="38100"/>
          </a:xfrm>
          <a:prstGeom prst="rect">
            <a:avLst/>
          </a:prstGeom>
          <a:solidFill>
            <a:srgbClr val="1B5E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5623560"/>
            <a:ext cx="108749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626B75"/>
                </a:solidFill>
                <a:latin typeface="Segoe UI"/>
              </a:rPr>
              <a:t>AI × Genomics Hackathon  ·  AGD Jahrestagung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57200"/>
            <a:ext cx="8229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1A1D21"/>
                </a:solidFill>
                <a:latin typeface="Segoe UI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70287" y="566928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626B75"/>
                </a:solidFill>
                <a:latin typeface="Segoe UI"/>
              </a:rPr>
              <a:t>~30 sec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33856"/>
            <a:ext cx="10874959" cy="19050"/>
          </a:xfrm>
          <a:prstGeom prst="rect">
            <a:avLst/>
          </a:prstGeom>
          <a:solidFill>
            <a:srgbClr val="DD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1463040"/>
            <a:ext cx="10874959" cy="91440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952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627632"/>
            <a:ext cx="1032631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1B5E9F"/>
                </a:solidFill>
                <a:latin typeface="Segoe UI"/>
              </a:rPr>
              <a:t>Turning a clinical letter into HPO terms is manual, English-centric, and leaves no record of why each term was chosen.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697480"/>
            <a:ext cx="10874959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0" i="0">
                <a:solidFill>
                  <a:srgbClr val="1A1D21"/>
                </a:solidFill>
                <a:latin typeface="Segoe UI"/>
              </a:rPr>
              <a:t>•  A curator preparing a case for phenotype-driven analysis, with a free-text letter or vignette in front of them.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626B75"/>
                </a:solidFill>
                <a:latin typeface="Segoe UI"/>
              </a:rPr>
              <a:t>    Not "clinicians need better tools" — this is the moment the terms actually get assigned.</a:t>
            </a:r>
          </a:p>
          <a:p>
            <a:pPr algn="l">
              <a:spcBef>
                <a:spcPts val="900"/>
              </a:spcBef>
              <a:spcAft>
                <a:spcPts val="200"/>
              </a:spcAft>
            </a:pPr>
            <a:r>
              <a:rPr sz="1700" b="0" i="0">
                <a:solidFill>
                  <a:srgbClr val="1A1D21"/>
                </a:solidFill>
                <a:latin typeface="Segoe UI"/>
              </a:rPr>
              <a:t>•  Today: hpo.jax.org, one finding at a time, searched in English.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626B75"/>
                </a:solidFill>
                <a:latin typeface="Segoe UI"/>
              </a:rPr>
              <a:t>    A German or Spanish letter gets translated in the curator’s head first, and that translation is never written down.</a:t>
            </a:r>
          </a:p>
          <a:p>
            <a:pPr algn="l">
              <a:spcBef>
                <a:spcPts val="900"/>
              </a:spcBef>
              <a:spcAft>
                <a:spcPts val="200"/>
              </a:spcAft>
            </a:pPr>
            <a:r>
              <a:rPr sz="1700" b="0" i="0">
                <a:solidFill>
                  <a:srgbClr val="1A1D21"/>
                </a:solidFill>
                <a:latin typeface="Segoe UI"/>
              </a:rPr>
              <a:t>•  The level of detail drifts between curators and between sessions.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626B75"/>
                </a:solidFill>
                <a:latin typeface="Segoe UI"/>
              </a:rPr>
              <a:t>    Is "Krampfanfälle" HP:0001250 Seizure, or a more specific child term? Yesterday’s answer is not recorded, so today’s may differ.</a:t>
            </a:r>
          </a:p>
          <a:p>
            <a:pPr algn="l">
              <a:spcBef>
                <a:spcPts val="900"/>
              </a:spcBef>
              <a:spcAft>
                <a:spcPts val="200"/>
              </a:spcAft>
            </a:pPr>
            <a:r>
              <a:rPr sz="1700" b="0" i="0">
                <a:solidFill>
                  <a:srgbClr val="1A1D21"/>
                </a:solidFill>
                <a:latin typeface="Segoe UI"/>
              </a:rPr>
              <a:t>•  A term outside phenotype.hpoa is useless downstream — and nothing stops you picking one.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626B75"/>
                </a:solidFill>
                <a:latin typeface="Segoe UI"/>
              </a:rPr>
              <a:t>    11,658 of the ontology’s ~19,900 terms carry disease annotations. The rest look equally valid in a search box.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57200"/>
            <a:ext cx="8229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1A1D21"/>
                </a:solidFill>
                <a:latin typeface="Segoe UI"/>
              </a:rPr>
              <a:t>How we addressed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70287" y="566928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626B75"/>
                </a:solidFill>
                <a:latin typeface="Segoe UI"/>
              </a:rPr>
              <a:t>~1 min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33856"/>
            <a:ext cx="10874959" cy="19050"/>
          </a:xfrm>
          <a:prstGeom prst="rect">
            <a:avLst/>
          </a:prstGeom>
          <a:solidFill>
            <a:srgbClr val="DD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417320"/>
            <a:ext cx="108749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1A1D21"/>
                </a:solidFill>
                <a:latin typeface="Segoe UI"/>
              </a:rPr>
              <a:t>Paste clinical text in any language; get back HPO terms guaranteed to appear in phenotype.hpoa.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148840"/>
            <a:ext cx="2304288" cy="105156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952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2276856"/>
            <a:ext cx="2011680" cy="795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B5E9F"/>
                </a:solidFill>
                <a:latin typeface="Segoe UI"/>
              </a:rPr>
              <a:t>1. EXTRACT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A1D21"/>
                </a:solidFill>
                <a:latin typeface="Segoe UI"/>
              </a:rPr>
              <a:t>Claude reads the text
in its own language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008376" y="2569464"/>
            <a:ext cx="182880" cy="201168"/>
          </a:xfrm>
          <a:prstGeom prst="rightArrow">
            <a:avLst/>
          </a:prstGeom>
          <a:solidFill>
            <a:srgbClr val="626B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236976" y="2148840"/>
            <a:ext cx="2304288" cy="105156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952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2276856"/>
            <a:ext cx="2011680" cy="795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C7A4A"/>
                </a:solidFill>
                <a:latin typeface="Segoe UI"/>
              </a:rPr>
              <a:t>2. RETRIEVE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A1D21"/>
                </a:solidFill>
                <a:latin typeface="Segoe UI"/>
              </a:rPr>
              <a:t>Deterministic search over
11,570 allowed terms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586984" y="2569464"/>
            <a:ext cx="182880" cy="201168"/>
          </a:xfrm>
          <a:prstGeom prst="rightArrow">
            <a:avLst/>
          </a:prstGeom>
          <a:solidFill>
            <a:srgbClr val="626B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815584" y="2148840"/>
            <a:ext cx="2304288" cy="105156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952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61888" y="2276856"/>
            <a:ext cx="2011680" cy="795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B5E9F"/>
                </a:solidFill>
                <a:latin typeface="Segoe UI"/>
              </a:rPr>
              <a:t>3. CHOOSE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A1D21"/>
                </a:solidFill>
                <a:latin typeface="Segoe UI"/>
              </a:rPr>
              <a:t>Claude picks from those
candidates — or none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8165592" y="2569464"/>
            <a:ext cx="182880" cy="201168"/>
          </a:xfrm>
          <a:prstGeom prst="rightArrow">
            <a:avLst/>
          </a:prstGeom>
          <a:solidFill>
            <a:srgbClr val="626B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394192" y="2148840"/>
            <a:ext cx="2304288" cy="105156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952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40496" y="2276856"/>
            <a:ext cx="2011680" cy="795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C7A4A"/>
                </a:solidFill>
                <a:latin typeface="Segoe UI"/>
              </a:rPr>
              <a:t>4. VALIDATE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A1D21"/>
                </a:solidFill>
                <a:latin typeface="Segoe UI"/>
              </a:rPr>
              <a:t>Re-checked against
phenotype.hpoa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10744200" y="2569464"/>
            <a:ext cx="182880" cy="201168"/>
          </a:xfrm>
          <a:prstGeom prst="rightArrow">
            <a:avLst/>
          </a:prstGeom>
          <a:solidFill>
            <a:srgbClr val="626B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310128"/>
            <a:ext cx="108749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26B75"/>
                </a:solidFill>
                <a:latin typeface="Segoe UI"/>
              </a:rPr>
              <a:t>spans + English paraphrase  →  candidate IDs  →  one ID or "none"  →  stored annotation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794760"/>
            <a:ext cx="10874959" cy="1170432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952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968496"/>
            <a:ext cx="1032631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800" b="1" i="0">
                <a:solidFill>
                  <a:srgbClr val="1C7A4A"/>
                </a:solidFill>
                <a:latin typeface="Segoe UI"/>
              </a:rPr>
              <a:t>The model never names an identifier.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D21"/>
                </a:solidFill>
                <a:latin typeface="Segoe UI"/>
              </a:rPr>
              <a:t>Stage 1 returns text, not IDs. Every candidate ID comes from a vocabulary built out of phenotype.hpoa. The stage 3 response schema pins the answer to a JSON-Schema enum of exactly those candidates, so an invented term is rejected by the API itself — not by a sentence in a prompt.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5230368"/>
            <a:ext cx="1087495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626B75"/>
                </a:solidFill>
                <a:latin typeface="Segoe UI"/>
              </a:rPr>
              <a:t>Deliberately not done: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626B75"/>
                </a:solidFill>
                <a:latin typeface="Segoe UI"/>
              </a:rPr>
              <a:t>no image annotation  ·  no embedding search  ·  no ontology-hierarchy navigation  ·  no model training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57200"/>
            <a:ext cx="8229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1A1D21"/>
                </a:solidFill>
                <a:latin typeface="Segoe UI"/>
              </a:rPr>
              <a:t>The 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70287" y="566928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626B75"/>
                </a:solidFill>
                <a:latin typeface="Segoe UI"/>
              </a:rPr>
              <a:t>~2 min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33856"/>
            <a:ext cx="10874959" cy="19050"/>
          </a:xfrm>
          <a:prstGeom prst="rect">
            <a:avLst/>
          </a:prstGeom>
          <a:solidFill>
            <a:srgbClr val="DD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371600"/>
            <a:ext cx="5852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C7A4A"/>
                </a:solidFill>
                <a:latin typeface="Segoe UI"/>
              </a:rPr>
              <a:t>Live runs, not a mock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58368" y="1828800"/>
          <a:ext cx="6675120" cy="114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914400"/>
                <a:gridCol w="914400"/>
                <a:gridCol w="2834640"/>
              </a:tblGrid>
              <a:tr h="381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626B75"/>
                          </a:solidFill>
                          <a:latin typeface="Segoe UI"/>
                        </a:rPr>
                        <a:t>Input</a:t>
                      </a:r>
                    </a:p>
                  </a:txBody>
                  <a:tcPr marL="73152" marR="73152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626B75"/>
                          </a:solidFill>
                          <a:latin typeface="Segoe UI"/>
                        </a:rPr>
                        <a:t>Findings</a:t>
                      </a:r>
                    </a:p>
                  </a:txBody>
                  <a:tcPr marL="73152" marR="73152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626B75"/>
                          </a:solidFill>
                          <a:latin typeface="Segoe UI"/>
                        </a:rPr>
                        <a:t>Correct</a:t>
                      </a:r>
                    </a:p>
                  </a:txBody>
                  <a:tcPr marL="73152" marR="73152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626B75"/>
                          </a:solidFill>
                          <a:latin typeface="Segoe UI"/>
                        </a:rPr>
                        <a:t>Caught</a:t>
                      </a:r>
                    </a:p>
                  </a:txBody>
                  <a:tcPr marL="73152" marR="73152">
                    <a:solidFill>
                      <a:srgbClr val="F4F6F8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1"/>
                          </a:solidFill>
                          <a:latin typeface="Segoe UI"/>
                        </a:rPr>
                        <a:t>German, 4 sentences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1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1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1"/>
                          </a:solidFill>
                          <a:latin typeface="Segoe UI"/>
                        </a:rPr>
                        <a:t>"Herzfehler ausgeschlossen" → negated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1"/>
                          </a:solidFill>
                          <a:latin typeface="Segoe UI"/>
                        </a:rPr>
                        <a:t>Spanish, 4 sentences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1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1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1"/>
                          </a:solidFill>
                          <a:latin typeface="Segoe UI"/>
                        </a:rPr>
                        <a:t>hedged → suspected; ruled out → negated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58368" y="3200400"/>
            <a:ext cx="667512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A1D21"/>
                </a:solidFill>
                <a:latin typeface="Segoe UI"/>
              </a:rPr>
              <a:t>•  Every term traced to the span that produced it, with the model’s one-line reason.</a:t>
            </a:r>
          </a:p>
          <a:p>
            <a:pPr algn="l">
              <a:spcBef>
                <a:spcPts val="900"/>
              </a:spcBef>
              <a:spcAft>
                <a:spcPts val="200"/>
              </a:spcAft>
            </a:pPr>
            <a:r>
              <a:rPr sz="1500" b="0" i="0">
                <a:solidFill>
                  <a:srgbClr val="1A1D21"/>
                </a:solidFill>
                <a:latin typeface="Segoe UI"/>
              </a:rPr>
              <a:t>•  Negation and hedging preserved, not discarded — "ruled out" is a training signal.</a:t>
            </a:r>
          </a:p>
          <a:p>
            <a:pPr algn="l">
              <a:spcBef>
                <a:spcPts val="900"/>
              </a:spcBef>
              <a:spcAft>
                <a:spcPts val="200"/>
              </a:spcAft>
            </a:pPr>
            <a:r>
              <a:rPr sz="1500" b="0" i="0">
                <a:solidFill>
                  <a:srgbClr val="1A1D21"/>
                </a:solidFill>
                <a:latin typeface="Segoe UI"/>
              </a:rPr>
              <a:t>•  Conservative where it should be: "pérdida auditiva bilateral" → Hearing impairment, dropping a modifier rather than inventing precision.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35240" y="1783080"/>
            <a:ext cx="3886200" cy="228600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952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0" y="1956816"/>
            <a:ext cx="347472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626B75"/>
                </a:solidFill>
                <a:latin typeface="Segoe UI"/>
              </a:rPr>
              <a:t>Allowed vocabulary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1A1D21"/>
                </a:solidFill>
                <a:latin typeface="Segoe UI"/>
              </a:rPr>
              <a:t>11,570 terms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626B75"/>
                </a:solidFill>
                <a:latin typeface="Segoe UI"/>
              </a:rPr>
              <a:t>Searchable strings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1A1D21"/>
                </a:solidFill>
                <a:latin typeface="Segoe UI"/>
              </a:rPr>
              <a:t>30,659 labels + synonyms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626B75"/>
                </a:solidFill>
                <a:latin typeface="Segoe UI"/>
              </a:rPr>
              <a:t>HPO release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1A1D21"/>
                </a:solidFill>
                <a:latin typeface="Segoe UI"/>
              </a:rPr>
              <a:t>2026-09-01, pinned in every record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626B75"/>
                </a:solidFill>
                <a:latin typeface="Segoe UI"/>
              </a:rPr>
              <a:t>Per annotation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1A1D21"/>
                </a:solidFill>
                <a:latin typeface="Segoe UI"/>
              </a:rPr>
              <a:t>~12 s  ·  ~$0.03  ·  2 model calls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4224528"/>
            <a:ext cx="3886200" cy="1371600"/>
          </a:xfrm>
          <a:prstGeom prst="roundRect">
            <a:avLst>
              <a:gd name="adj" fmla="val 6000"/>
            </a:avLst>
          </a:prstGeom>
          <a:solidFill>
            <a:srgbClr val="FDF3E2"/>
          </a:solidFill>
          <a:ln w="952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4389120"/>
            <a:ext cx="3474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8A5300"/>
                </a:solidFill>
                <a:latin typeface="Segoe UI"/>
              </a:rPr>
              <a:t>The constraint is the annotation file,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8A5300"/>
                </a:solidFill>
                <a:latin typeface="Segoe UI"/>
              </a:rPr>
              <a:t>not "is this a valid ID"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A1D21"/>
                </a:solidFill>
                <a:latin typeface="Segoe UI"/>
              </a:rPr>
              <a:t>Saving HP:0000001 is refused. It is a real HPO term — the ontology root — but it is not in phenotype.hpoa.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5779008"/>
            <a:ext cx="1087495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626B75"/>
                </a:solidFill>
                <a:latin typeface="Segoe UI"/>
              </a:rPr>
              <a:t>Real vs. stubbed: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A1D21"/>
                </a:solidFill>
                <a:latin typeface="Segoe UI"/>
              </a:rPr>
              <a:t>Nothing on this slide is hardcoded — every number came from a run. Not done: no gold-standard validation, and no timed comparison against hand annotation yet, so we cannot yet claim it is faster.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57200"/>
            <a:ext cx="8229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1A1D21"/>
                </a:solidFill>
                <a:latin typeface="Segoe UI"/>
              </a:rPr>
              <a:t>A second interface, in Streamlit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70287" y="566928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626B75"/>
                </a:solidFill>
                <a:latin typeface="Segoe UI"/>
              </a:rPr>
              <a:t>~20 sec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33856"/>
            <a:ext cx="10874959" cy="19050"/>
          </a:xfrm>
          <a:prstGeom prst="rect">
            <a:avLst/>
          </a:prstGeom>
          <a:solidFill>
            <a:srgbClr val="DD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371600"/>
            <a:ext cx="1087495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1A1D21"/>
                </a:solidFill>
                <a:latin typeface="Segoe UI"/>
              </a:rPr>
              <a:t>Same pipeline, a different front end — the annotation logic is a library, not part of the UI.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920240"/>
            <a:ext cx="6812280" cy="3703320"/>
          </a:xfrm>
          <a:prstGeom prst="roundRect">
            <a:avLst>
              <a:gd name="adj" fmla="val 3000"/>
            </a:avLst>
          </a:prstGeom>
          <a:solidFill>
            <a:srgbClr val="F4F6F8"/>
          </a:solidFill>
          <a:ln w="12700">
            <a:solidFill>
              <a:srgbClr val="626B7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3461004"/>
            <a:ext cx="64465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626B75"/>
                </a:solidFill>
                <a:latin typeface="Segoe UI"/>
              </a:rPr>
              <a:t>screenshot goes here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626B75"/>
                </a:solidFill>
                <a:latin typeface="Segoe UI"/>
              </a:rPr>
              <a:t>deck-assets/streamlit-main.png  —  then re-run make_deck.py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26679" y="1920240"/>
            <a:ext cx="379476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600" b="1" i="0">
                <a:solidFill>
                  <a:srgbClr val="626B75"/>
                </a:solidFill>
                <a:latin typeface="Segoe UI"/>
              </a:rPr>
              <a:t>Why two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A1D21"/>
                </a:solidFill>
                <a:latin typeface="Segoe UI"/>
              </a:rPr>
              <a:t>•  hpo_vocab.py and annotate.py hold the vocabulary, the search and the three-stage pipeline.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626B75"/>
                </a:solidFill>
                <a:latin typeface="Segoe UI"/>
              </a:rPr>
              <a:t>    Neither imports anything about a UI, so a second front end reuses them unchanged — and inherits the same guarantee.</a:t>
            </a:r>
          </a:p>
          <a:p>
            <a:pPr algn="l">
              <a:spcBef>
                <a:spcPts val="900"/>
              </a:spcBef>
              <a:spcAft>
                <a:spcPts val="200"/>
              </a:spcAft>
            </a:pPr>
            <a:r>
              <a:rPr sz="1400" b="0" i="0">
                <a:solidFill>
                  <a:srgbClr val="1A1D21"/>
                </a:solidFill>
                <a:latin typeface="Segoe UI"/>
              </a:rPr>
              <a:t>•  The stdlib server has zero dependencies beyond anthropic.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626B75"/>
                </a:solidFill>
                <a:latin typeface="Segoe UI"/>
              </a:rPr>
              <a:t>    Runs anywhere Python does, no install step for a reviewer.</a:t>
            </a:r>
          </a:p>
          <a:p>
            <a:pPr algn="l">
              <a:spcBef>
                <a:spcPts val="900"/>
              </a:spcBef>
              <a:spcAft>
                <a:spcPts val="200"/>
              </a:spcAft>
            </a:pPr>
            <a:r>
              <a:rPr sz="1400" b="0" i="0">
                <a:solidFill>
                  <a:srgbClr val="1A1D21"/>
                </a:solidFill>
                <a:latin typeface="Segoe UI"/>
              </a:rPr>
              <a:t>•  [TODO: what the Streamlit version does better — say it in one line]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626B75"/>
                </a:solidFill>
                <a:latin typeface="Segoe UI"/>
              </a:rPr>
              <a:t>    Replace this with the honest reason it exists.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57200"/>
            <a:ext cx="8229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1A1D21"/>
                </a:solidFill>
                <a:latin typeface="Segoe UI"/>
              </a:rPr>
              <a:t>Limits, and working with Claude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70287" y="566928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626B75"/>
                </a:solidFill>
                <a:latin typeface="Segoe UI"/>
              </a:rPr>
              <a:t>~45 sec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33856"/>
            <a:ext cx="10874959" cy="19050"/>
          </a:xfrm>
          <a:prstGeom prst="rect">
            <a:avLst/>
          </a:prstGeom>
          <a:solidFill>
            <a:srgbClr val="DD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371600"/>
            <a:ext cx="539496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626B75"/>
                </a:solidFill>
                <a:latin typeface="Segoe UI"/>
              </a:rPr>
              <a:t>What it does not do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450" b="0" i="0">
                <a:solidFill>
                  <a:srgbClr val="1A1D21"/>
                </a:solidFill>
                <a:latin typeface="Segoe UI"/>
              </a:rPr>
              <a:t>•  Recall is bounded by the lexical index.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626B75"/>
                </a:solidFill>
                <a:latin typeface="Segoe UI"/>
              </a:rPr>
              <a:t>    A phrasing sharing no words with any label returns no term — correctly, rather than a wrong one.</a:t>
            </a:r>
          </a:p>
          <a:p>
            <a:pPr algn="l">
              <a:spcBef>
                <a:spcPts val="900"/>
              </a:spcBef>
              <a:spcAft>
                <a:spcPts val="200"/>
              </a:spcAft>
            </a:pPr>
            <a:r>
              <a:rPr sz="1450" b="0" i="0">
                <a:solidFill>
                  <a:srgbClr val="1A1D21"/>
                </a:solidFill>
                <a:latin typeface="Segoe UI"/>
              </a:rPr>
              <a:t>•  Choosing the level of detail is the error surface.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626B75"/>
                </a:solidFill>
                <a:latin typeface="Segoe UI"/>
              </a:rPr>
              <a:t>    Eight plausible siblings; picking the wrong specificity is the likely failure. Hence the visible reason string.</a:t>
            </a:r>
          </a:p>
          <a:p>
            <a:pPr algn="l">
              <a:spcBef>
                <a:spcPts val="900"/>
              </a:spcBef>
              <a:spcAft>
                <a:spcPts val="200"/>
              </a:spcAft>
            </a:pPr>
            <a:r>
              <a:rPr sz="1450" b="0" i="0">
                <a:solidFill>
                  <a:srgbClr val="1A1D21"/>
                </a:solidFill>
                <a:latin typeface="Segoe UI"/>
              </a:rPr>
              <a:t>•  No hierarchy navigation, no measured precision or recall.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626B75"/>
                </a:solidFill>
                <a:latin typeface="Segoe UI"/>
              </a:rPr>
              <a:t>    Parent/child links are loaded but unused.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46520" y="1371600"/>
            <a:ext cx="507492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8A5300"/>
                </a:solidFill>
                <a:latin typeface="Segoe UI"/>
              </a:rPr>
              <a:t>What Claude got wrong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450" b="0" i="0">
                <a:solidFill>
                  <a:srgbClr val="1A1D21"/>
                </a:solidFill>
                <a:latin typeface="Segoe UI"/>
              </a:rPr>
              <a:t>•  A silent CRLF bug — no error, no warning.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626B75"/>
                </a:solidFill>
                <a:latin typeface="Segoe UI"/>
              </a:rPr>
              <a:t>    chomp strips \n but not \r, so a column lookup missed and a whole block of the report rendered empty. Found only because a second implementation disagreed, byte for byte.</a:t>
            </a:r>
          </a:p>
          <a:p>
            <a:pPr algn="l">
              <a:spcBef>
                <a:spcPts val="900"/>
              </a:spcBef>
              <a:spcAft>
                <a:spcPts val="200"/>
              </a:spcAft>
            </a:pPr>
            <a:r>
              <a:rPr sz="1450" b="0" i="0">
                <a:solidFill>
                  <a:srgbClr val="1A1D21"/>
                </a:solidFill>
                <a:latin typeface="Segoe UI"/>
              </a:rPr>
              <a:t>•  A stale server answering on a reused port.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626B75"/>
                </a:solidFill>
                <a:latin typeface="Segoe UI"/>
              </a:rPr>
              <a:t>    It reported "no API key" long after the key was set. The symptom pointed at credentials; the cause was SO_REUSEADDR.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4617720"/>
            <a:ext cx="10874959" cy="146304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952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4791456"/>
            <a:ext cx="10326319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600" b="1" i="0">
                <a:solidFill>
                  <a:srgbClr val="1B5E9F"/>
                </a:solidFill>
                <a:latin typeface="Segoe UI"/>
              </a:rPr>
              <a:t>With another day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1A1D21"/>
                </a:solidFill>
                <a:latin typeface="Segoe UI"/>
              </a:rPr>
              <a:t>1.  A gold-standard set and a timed comparison against hand annotation — the success criterion we have not yet measured.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1A1D21"/>
                </a:solidFill>
                <a:latin typeface="Segoe UI"/>
              </a:rPr>
              <a:t>2.  The disease-prior shortcut: when the disease is known, phenotype.hpoa already lists its expected terms.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D21"/>
                </a:solidFill>
                <a:latin typeface="Segoe UI"/>
              </a:rPr>
              <a:t>3.  Ontology hierarchy, so the annotator can move a level up or down from a suggestion.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